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3B82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Using AI
Now</c:v>
                  </c:pt>
                  <c:pt idx="1">
                    <c:v>Plan to
Automate</c:v>
                  </c:pt>
                  <c:pt idx="2">
                    <c:v>Use Some
Tech</c:v>
                  </c:pt>
                  <c:pt idx="3">
                    <c:v>Wait for
Others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44</c:v>
                </c:pt>
                <c:pt idx="2">
                  <c:v>69</c:v>
                </c:pt>
                <c:pt idx="3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3B82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CLICKS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for UK Hospitality SMEs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3474720"/>
            <a:ext cx="1463040" cy="1828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846320"/>
            <a:ext cx="7680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zeroclicks.vercel.app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Hospitality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14600" cy="14173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514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176,685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514600" cy="14173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17320"/>
            <a:ext cx="25146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99.6%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240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514600" cy="14173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17320"/>
            <a:ext cx="2514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£153B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2514600" cy="14173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063240"/>
            <a:ext cx="2514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3063240"/>
            <a:ext cx="2514600" cy="14173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9000" y="3063240"/>
            <a:ext cx="2514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246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45,000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42900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063240"/>
            <a:ext cx="2514600" cy="14173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063240"/>
            <a:ext cx="25146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46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50,900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21792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ONS, BBPA, House of Commons Library (2024-25)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Industry Under Pressure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49047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 closing per week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180136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in 2024, accelerating to 1/day in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28600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331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235915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restaurants at risk of closure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26700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6,128 businesses with maximum insolvency risk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15468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00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22783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rates cut slashed to 25%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35387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April 2025 — single biggest cost shock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02336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069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0" y="409651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operators face unprecedented pressure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44074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NI, wages, energy (+15%), food costs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BBPA, Morning Advertiser, Price Bailey, Bald Consulting (2024-25)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Time Gets Lost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200400" cy="310896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45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10-20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hrs/week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manual 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average hospitality SME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132,000+ staff vacancies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46304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4630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ordering via email and phone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1938528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93852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confirmations sent by hand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0" y="2414016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241401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rotas managed in spreadsheets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0" y="2889504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8895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processing done manually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3364992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336499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lose $200K/yr on manual data entry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0" y="384048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38404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triage system — everything is urgent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NetSuite, Trail App, Growth Engineering (2024)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ADOPTION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Digital Gap in Hospitality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371600"/>
            <a:ext cx="3383280" cy="868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94960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£2.6B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94960" y="1847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SME automation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(2024)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2423160"/>
            <a:ext cx="3383280" cy="868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94960" y="2496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394960" y="2898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hotel tech spend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(2025)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3474720"/>
            <a:ext cx="3383280" cy="868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94960" y="3547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394960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leaders expect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2025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GOV.UK SME Survey, Beaming, Capital Economics (2024-25)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Automation Opportunity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874520" cy="2011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1874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$16.3B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BPA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 CAGR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371600"/>
            <a:ext cx="1874520" cy="2011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371600"/>
            <a:ext cx="18745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$270M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88036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Workflow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 CAGR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1874520" cy="2011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371600"/>
            <a:ext cx="1874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$3.5B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2920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Segment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share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1371600"/>
            <a:ext cx="1874520" cy="2011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1371600"/>
            <a:ext cx="18745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57.6%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7804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Hospitality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$0.23B to $1.44B by 2034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restaurant leaders expect to deploy AI/automation in 2025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Business Research Co, MarketsandMarkets, Statista, All About AI (2024-25)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Pricing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78638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26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Agencies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£5,000–£25,000/project  |  £2,000–£8,000/mo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594360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194560"/>
            <a:ext cx="5943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Agencies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52374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£800/day  |  £5,000+ projects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274320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017520"/>
            <a:ext cx="274320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72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(Upwork)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346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£200–£1,000  |  No support / structure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347472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840480"/>
            <a:ext cx="34747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Clicks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169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£499–£1,200  |  £350/mo retainer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840480"/>
            <a:ext cx="36576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84048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Nobody serves independent hospitality operators at £200–£500/month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Goodspeed Studio, HunterBI, Oreate AI, Latenode (2025)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Zero Clicks Fits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14600" cy="13716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2514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pubs, restaurants,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 (175,000+)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514600" cy="13716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71600"/>
            <a:ext cx="25146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08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Sweet Spot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£200–£500/month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SME, too small for agencies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514600" cy="13716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2514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508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Advantage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solo operator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20–30% agency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2514600" cy="13716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71800"/>
            <a:ext cx="2514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self-hosted: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£50–£130/mo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971800"/>
            <a:ext cx="2514600" cy="13716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9000" y="2971800"/>
            <a:ext cx="25146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474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deploy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with minor changes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2514600" cy="13716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971800"/>
            <a:ext cx="2514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3474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Productised service—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scope, fixed price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1460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36576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Auto-route, reply, and categorise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emails. Never miss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or deadline.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51460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71600"/>
            <a:ext cx="36576" cy="1645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463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CRM Workflows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1828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leads from any source,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them, push to CRM.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entry.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51460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36576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63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Pipelines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processing,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Slack alerts,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more.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n8n + Claude AI + Gmail + Sheets + Telegram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749040"/>
            <a:ext cx="36576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069080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 inbox: 90 min/day → 15 min/day  |  Running cost: £8/month  |  Deployed in &lt; 5 min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Money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14600" cy="2011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2514600" cy="36576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£499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workflow build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371600"/>
            <a:ext cx="2514600" cy="2011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371600"/>
            <a:ext cx="2514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977640" y="1261872"/>
            <a:ext cx="141732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977640" y="12618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29000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£1,200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29000" y="2331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connected workflows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classification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514600" cy="2011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71600"/>
            <a:ext cx="2514600" cy="36576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£350/mo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workflows/month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priority support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657600"/>
            <a:ext cx="379476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703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clients in 90 days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£3,600+ revenue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3657600"/>
            <a:ext cx="379476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703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monthly retainers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39776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£3,500/mo recurring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FE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Get Clients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5303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36576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Content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4173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3-4x/week about automation wins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2029968"/>
            <a:ext cx="6766560" cy="5303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2029968"/>
            <a:ext cx="36576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075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2075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20756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5 prospects/week — ask, don't pitch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37360" y="2688336"/>
            <a:ext cx="5669280" cy="5303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7360" y="2688336"/>
            <a:ext cx="36576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2734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77440" y="2734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Audit Call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73405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— map their bottleneck, show the fix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3346704"/>
            <a:ext cx="4572000" cy="5303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3346704"/>
            <a:ext cx="36576" cy="5303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2423160" y="339242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926080" y="33924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Project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339242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Deliver, document, get testimonial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4005072"/>
            <a:ext cx="3474720" cy="5303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4005072"/>
            <a:ext cx="36576" cy="5303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2971800" y="40507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74720" y="40507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0" y="4050792"/>
            <a:ext cx="18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1 referral + post case study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5-6 hrs/week alongside MBA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36576" cy="36576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175,000+ hospitality SMEs drowning in manual admin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1737360"/>
            <a:ext cx="36576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12% use AI — massive greenfield opportunity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36576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charge £5K+ — out of reach for independents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834640"/>
            <a:ext cx="36576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Clicks fills the gap: affordable, specific, AI-powered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383280"/>
            <a:ext cx="36576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 in a niche vertical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0" y="3931920"/>
            <a:ext cx="4572000" cy="1828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 at a time.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zeroclicks.vercel.app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Clicks — Market Opportunity</dc:title>
  <dc:subject>PptxGenJS Presentation</dc:subject>
  <dc:creator>Venkatesh Surampudi</dc:creator>
  <cp:lastModifiedBy>Venkatesh Surampudi</cp:lastModifiedBy>
  <cp:revision>1</cp:revision>
  <dcterms:created xsi:type="dcterms:W3CDTF">2026-03-23T06:08:50Z</dcterms:created>
  <dcterms:modified xsi:type="dcterms:W3CDTF">2026-03-23T06:08:50Z</dcterms:modified>
</cp:coreProperties>
</file>